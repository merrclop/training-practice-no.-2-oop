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12192000" cy="6858000"/>
  <p:notesSz cx="6858000" cy="9144000"/>
  <p:embeddedFontLst>
    <p:embeddedFont>
      <p:font typeface="Urbanist" charset="0"/>
      <p:regular r:id="rId19"/>
      <p:bold r:id="rId20"/>
      <p:italic r:id="rId21"/>
      <p:boldItalic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>
  <p:normalViewPr>
    <p:restoredLeft sz="15620"/>
    <p:restoredTop sz="94660"/>
  </p:normalViewPr>
  <p:slide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2148"/>
        <p:guide pos="2880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2" Type="http://schemas.openxmlformats.org/officeDocument/2006/relationships/font" Target="fonts/font4.fntdata"/><Relationship Id="rId21" Type="http://schemas.openxmlformats.org/officeDocument/2006/relationships/font" Target="fonts/font3.fntdata"/><Relationship Id="rId20" Type="http://schemas.openxmlformats.org/officeDocument/2006/relationships/font" Target="fonts/font2.fntdata"/><Relationship Id="rId2" Type="http://schemas.openxmlformats.org/officeDocument/2006/relationships/theme" Target="theme/theme1.xml"/><Relationship Id="rId19" Type="http://schemas.openxmlformats.org/officeDocument/2006/relationships/font" Target="fonts/font1.fntdata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2" name="Google Shape;82;p1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4" name="Google Shape;94;p2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2" name="Google Shape;112;p3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4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6" name="Google Shape;126;p4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5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1" name="Google Shape;141;p5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6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8" name="Google Shape;158;p6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2" name="Google Shape;172;p7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8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89" name="Google Shape;189;p8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9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0" name="Google Shape;200;p9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7" name="Google Shape;217;p10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1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29" name="Google Shape;229;p11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2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46" name="Google Shape;246;p12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Title Slid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Title and Content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Section Header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Two Content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Comparison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3" name="Google Shape;43;p7"/>
          <p:cNvSpPr txBox="1"/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5" name="Google Shape;45;p7"/>
          <p:cNvSpPr txBox="1"/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Title 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matchingName="Content with Caption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matchingName="Picture with Caption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matchingName="Title and Vertical Text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Vertical Title and Text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 panose="020B0604020202020204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5.png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3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8.png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4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11.png"/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5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2" Type="http://schemas.openxmlformats.org/officeDocument/2006/relationships/image" Target="../media/image12.png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6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15.png"/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7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17.png"/><Relationship Id="rId3" Type="http://schemas.openxmlformats.org/officeDocument/2006/relationships/image" Target="../media/image16.png"/><Relationship Id="rId2" Type="http://schemas.openxmlformats.org/officeDocument/2006/relationships/image" Target="../media/image4.png"/><Relationship Id="rId1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8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9.png"/><Relationship Id="rId1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9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4.png"/><Relationship Id="rId3" Type="http://schemas.openxmlformats.org/officeDocument/2006/relationships/image" Target="../media/image20.png"/><Relationship Id="rId2" Type="http://schemas.openxmlformats.org/officeDocument/2006/relationships/image" Target="../media/image3.png"/><Relationship Id="rId1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0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1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4.png"/><Relationship Id="rId3" Type="http://schemas.openxmlformats.org/officeDocument/2006/relationships/image" Target="../media/image24.png"/><Relationship Id="rId2" Type="http://schemas.openxmlformats.org/officeDocument/2006/relationships/image" Target="../media/image16.png"/><Relationship Id="rId1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2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3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3085207" y="4103340"/>
            <a:ext cx="6021437" cy="1285875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3"/>
          <p:cNvSpPr txBox="1"/>
          <p:nvPr/>
        </p:nvSpPr>
        <p:spPr>
          <a:xfrm>
            <a:off x="2934671" y="1325909"/>
            <a:ext cx="6322508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ЗВІТ З НАВЧАЛЬНОЇ ПРАКТИКИ №2</a:t>
            </a:r>
            <a:endParaRPr lang="en-US" sz="2100" b="1" i="0" u="none" strike="noStrike" cap="none">
              <a:solidFill>
                <a:srgbClr val="94A3B8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87" name="Google Shape;87;p13"/>
          <p:cNvSpPr txBox="1"/>
          <p:nvPr/>
        </p:nvSpPr>
        <p:spPr>
          <a:xfrm>
            <a:off x="2297430" y="2019300"/>
            <a:ext cx="7597775" cy="13849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1" i="0" u="none" strike="noStrike" cap="none">
                <a:solidFill>
                  <a:srgbClr val="10B981"/>
                </a:solidFill>
                <a:latin typeface="Urbanist"/>
                <a:ea typeface="Urbanist"/>
                <a:cs typeface="Urbanist"/>
                <a:sym typeface="Urbanist"/>
              </a:rPr>
              <a:t>Розробка на мові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4500" b="1" i="0" u="none" strike="noStrike" cap="none">
                <a:solidFill>
                  <a:srgbClr val="10B981"/>
                </a:solidFill>
                <a:latin typeface="Urbanist"/>
                <a:ea typeface="Urbanist"/>
                <a:cs typeface="Urbanist"/>
                <a:sym typeface="Urbanist"/>
              </a:rPr>
              <a:t> програмування Java</a:t>
            </a:r>
            <a:endParaRPr lang="en-US" sz="4500" b="1" i="0" u="none" strike="noStrike" cap="none">
              <a:solidFill>
                <a:srgbClr val="10B98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88" name="Google Shape;88;p13"/>
          <p:cNvSpPr txBox="1"/>
          <p:nvPr/>
        </p:nvSpPr>
        <p:spPr>
          <a:xfrm>
            <a:off x="3085207" y="3693824"/>
            <a:ext cx="6021437" cy="319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Об’єктно-орієнтоване програмування</a:t>
            </a:r>
            <a:endParaRPr lang="en-US" sz="1800" b="0" i="0" u="none" strike="noStrike" cap="none">
              <a:solidFill>
                <a:srgbClr val="94A3B8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89" name="Google Shape;89;p13"/>
          <p:cNvSpPr txBox="1"/>
          <p:nvPr/>
        </p:nvSpPr>
        <p:spPr>
          <a:xfrm>
            <a:off x="3085207" y="4303365"/>
            <a:ext cx="6021437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Студент: Кабар М.В. (ІПЗ-3)</a:t>
            </a:r>
            <a:endParaRPr lang="en-US" sz="1500" b="1" i="0" u="none" strike="noStrike" cap="none">
              <a:solidFill>
                <a:srgbClr val="CBD5E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90" name="Google Shape;90;p13"/>
          <p:cNvSpPr txBox="1"/>
          <p:nvPr/>
        </p:nvSpPr>
        <p:spPr>
          <a:xfrm>
            <a:off x="3085207" y="4712940"/>
            <a:ext cx="6021437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Керівник: Олійник І.Ю.</a:t>
            </a:r>
            <a:endParaRPr lang="en-US" sz="1500" b="1" i="0" u="none" strike="noStrike" cap="none">
              <a:solidFill>
                <a:srgbClr val="CBD5E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91" name="Google Shape;91;p13"/>
          <p:cNvSpPr txBox="1"/>
          <p:nvPr/>
        </p:nvSpPr>
        <p:spPr>
          <a:xfrm>
            <a:off x="3085465" y="5122545"/>
            <a:ext cx="6809740" cy="322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ВСП «Золочівський фаховий коледж НУ Львівська політехніка»</a:t>
            </a:r>
            <a:endParaRPr lang="en-US" sz="1500" b="1" i="0" u="none" strike="noStrike" cap="none">
              <a:solidFill>
                <a:srgbClr val="CBD5E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14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4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6286500" y="2014537"/>
            <a:ext cx="5334000" cy="361950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4"/>
          <p:cNvSpPr txBox="1"/>
          <p:nvPr/>
        </p:nvSpPr>
        <p:spPr>
          <a:xfrm>
            <a:off x="571500" y="1928177"/>
            <a:ext cx="5334000" cy="8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Навчальна практика спрямована на закріплення теоретичних знань з ООП та набуття практичних навичок проектування систем.</a:t>
            </a:r>
            <a:endParaRPr lang="en-US" sz="1500" b="0" i="0" u="none" strike="noStrike" cap="none">
              <a:solidFill>
                <a:srgbClr val="CBD5E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99" name="Google Shape;99;p14"/>
          <p:cNvSpPr txBox="1"/>
          <p:nvPr/>
        </p:nvSpPr>
        <p:spPr>
          <a:xfrm>
            <a:off x="904875" y="2967037"/>
            <a:ext cx="5000625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Оволодіння методами ООП у Java</a:t>
            </a:r>
            <a:endParaRPr lang="en-US" sz="1500" b="0" i="0" u="none" strike="noStrike" cap="none">
              <a:solidFill>
                <a:srgbClr val="CBD5E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00" name="Google Shape;100;p14"/>
          <p:cNvSpPr txBox="1"/>
          <p:nvPr/>
        </p:nvSpPr>
        <p:spPr>
          <a:xfrm>
            <a:off x="904875" y="3348037"/>
            <a:ext cx="5000625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Формування навичок роботи з інструментами (Arch Linux, Nano, JDK)</a:t>
            </a:r>
            <a:endParaRPr lang="en-US" sz="1500" b="0" i="0" u="none" strike="noStrike" cap="none">
              <a:solidFill>
                <a:srgbClr val="CBD5E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01" name="Google Shape;101;p14"/>
          <p:cNvSpPr txBox="1"/>
          <p:nvPr/>
        </p:nvSpPr>
        <p:spPr>
          <a:xfrm>
            <a:off x="904875" y="3995737"/>
            <a:ext cx="5000625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Розробка відмовостійких та асинхронних систем</a:t>
            </a:r>
            <a:endParaRPr lang="en-US" sz="1500" b="0" i="0" u="none" strike="noStrike" cap="none">
              <a:solidFill>
                <a:srgbClr val="CBD5E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02" name="Google Shape;102;p14"/>
          <p:cNvSpPr txBox="1"/>
          <p:nvPr/>
        </p:nvSpPr>
        <p:spPr>
          <a:xfrm>
            <a:off x="904875" y="4376737"/>
            <a:ext cx="5000625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Виконання індивідуального проєкту</a:t>
            </a:r>
            <a:endParaRPr lang="en-US" sz="1500" b="0" i="0" u="none" strike="noStrike" cap="none">
              <a:solidFill>
                <a:srgbClr val="CBD5E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03" name="Google Shape;103;p14"/>
          <p:cNvSpPr txBox="1"/>
          <p:nvPr/>
        </p:nvSpPr>
        <p:spPr>
          <a:xfrm>
            <a:off x="762000" y="571500"/>
            <a:ext cx="3774690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10B981"/>
                </a:solidFill>
                <a:latin typeface="Urbanist"/>
                <a:ea typeface="Urbanist"/>
                <a:cs typeface="Urbanist"/>
                <a:sym typeface="Urbanist"/>
              </a:rPr>
              <a:t>ВСТУП ТА МЕТА</a:t>
            </a:r>
            <a:endParaRPr lang="en-US" sz="3300" b="1" i="0" u="none" strike="noStrike" cap="none">
              <a:solidFill>
                <a:srgbClr val="10B98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04" name="Google Shape;104;p14"/>
          <p:cNvSpPr/>
          <p:nvPr/>
        </p:nvSpPr>
        <p:spPr>
          <a:xfrm>
            <a:off x="571500" y="571500"/>
            <a:ext cx="47625" cy="504825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5" name="Google Shape;105;p14" descr="image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571500" y="2967037"/>
            <a:ext cx="2381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14" descr="image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571500" y="3348037"/>
            <a:ext cx="2381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14" descr="image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571500" y="3995737"/>
            <a:ext cx="2381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14" descr="image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571500" y="4376737"/>
            <a:ext cx="2381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14"/>
          <p:cNvPicPr preferRelativeResize="0"/>
          <p:nvPr/>
        </p:nvPicPr>
        <p:blipFill rotWithShape="1">
          <a:blip r:embed="rId4"/>
          <a:srcRect t="4562" b="4562"/>
          <a:stretch>
            <a:fillRect/>
          </a:stretch>
        </p:blipFill>
        <p:spPr>
          <a:xfrm>
            <a:off x="6286500" y="2412025"/>
            <a:ext cx="5175651" cy="3367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Google Shape;114;p15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p15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571500" y="3286125"/>
            <a:ext cx="5334000" cy="1304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15" descr="image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6267450" y="4016375"/>
            <a:ext cx="5334000" cy="190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15"/>
          <p:cNvSpPr txBox="1"/>
          <p:nvPr/>
        </p:nvSpPr>
        <p:spPr>
          <a:xfrm>
            <a:off x="571500" y="2190750"/>
            <a:ext cx="560070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Клас MusicTrack</a:t>
            </a:r>
            <a:endParaRPr lang="en-US" sz="2100" b="1" i="0" u="none" strike="noStrike" cap="none">
              <a:solidFill>
                <a:srgbClr val="94A3B8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18" name="Google Shape;118;p15"/>
          <p:cNvSpPr txBox="1"/>
          <p:nvPr/>
        </p:nvSpPr>
        <p:spPr>
          <a:xfrm>
            <a:off x="571500" y="2609850"/>
            <a:ext cx="53340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Умова: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Створити повністю інкапсульований клас (назва, виконавець, тривалість) з валідацією даних.</a:t>
            </a:r>
            <a:endParaRPr lang="en-US" sz="1500" b="0" i="0" u="none" strike="noStrike" cap="none">
              <a:solidFill>
                <a:srgbClr val="CBD5E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19" name="Google Shape;119;p15"/>
          <p:cNvSpPr txBox="1"/>
          <p:nvPr/>
        </p:nvSpPr>
        <p:spPr>
          <a:xfrm>
            <a:off x="6286500" y="2190750"/>
            <a:ext cx="560070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Результат</a:t>
            </a:r>
            <a:endParaRPr lang="en-US" sz="2100" b="1" i="0" u="none" strike="noStrike" cap="none">
              <a:solidFill>
                <a:srgbClr val="94A3B8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20" name="Google Shape;120;p15"/>
          <p:cNvSpPr txBox="1"/>
          <p:nvPr/>
        </p:nvSpPr>
        <p:spPr>
          <a:xfrm>
            <a:off x="6286500" y="2609850"/>
            <a:ext cx="5334000" cy="8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Реалізовано методи доступу (геттери/сеттери), конструктори таtoString(). Програма блокує некоректне введення (від'ємний час).</a:t>
            </a:r>
            <a:endParaRPr lang="en-US" sz="1500" b="0" i="0" u="none" strike="noStrike" cap="none">
              <a:solidFill>
                <a:srgbClr val="CBD5E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121" name="Google Shape;121;p15" descr="image.png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6286500" y="4016375"/>
            <a:ext cx="5314950" cy="188595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5"/>
          <p:cNvSpPr txBox="1"/>
          <p:nvPr/>
        </p:nvSpPr>
        <p:spPr>
          <a:xfrm>
            <a:off x="762000" y="571500"/>
            <a:ext cx="7772377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10B981"/>
                </a:solidFill>
                <a:latin typeface="Urbanist"/>
                <a:ea typeface="Urbanist"/>
                <a:cs typeface="Urbanist"/>
                <a:sym typeface="Urbanist"/>
              </a:rPr>
              <a:t>ЗАВДАННЯ 1: КЛАСИ ТА ОБ'ЄКТИ</a:t>
            </a:r>
            <a:endParaRPr lang="en-US" sz="3300" b="1" i="0" u="none" strike="noStrike" cap="none">
              <a:solidFill>
                <a:srgbClr val="10B98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23" name="Google Shape;123;p15"/>
          <p:cNvSpPr/>
          <p:nvPr/>
        </p:nvSpPr>
        <p:spPr>
          <a:xfrm>
            <a:off x="571500" y="571500"/>
            <a:ext cx="47625" cy="504825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" name="Google Shape;128;p16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16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571500" y="2671762"/>
            <a:ext cx="5334000" cy="2305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" name="Google Shape;130;p16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6286500" y="2671762"/>
            <a:ext cx="5334000" cy="2305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16" descr="image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762000" y="2900362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16"/>
          <p:cNvSpPr txBox="1"/>
          <p:nvPr/>
        </p:nvSpPr>
        <p:spPr>
          <a:xfrm>
            <a:off x="762000" y="3424237"/>
            <a:ext cx="520065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Вкладені класи</a:t>
            </a:r>
            <a:endParaRPr lang="en-US" sz="2100" b="1" i="0" u="none" strike="noStrike" cap="none">
              <a:solidFill>
                <a:srgbClr val="94A3B8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33" name="Google Shape;133;p16"/>
          <p:cNvSpPr txBox="1"/>
          <p:nvPr/>
        </p:nvSpPr>
        <p:spPr>
          <a:xfrm>
            <a:off x="762000" y="3843337"/>
            <a:ext cx="4953000" cy="8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Реалізовано клас MusicTrack як вкладений статичний клас всередині Album. Це забезпечує логічне групування сутностей.</a:t>
            </a:r>
            <a:endParaRPr lang="en-US" sz="1500" b="0" i="0" u="none" strike="noStrike" cap="none">
              <a:solidFill>
                <a:srgbClr val="CBD5E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134" name="Google Shape;134;p16" descr="image.png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6477000" y="2900362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16"/>
          <p:cNvSpPr txBox="1"/>
          <p:nvPr/>
        </p:nvSpPr>
        <p:spPr>
          <a:xfrm>
            <a:off x="6477000" y="3424237"/>
            <a:ext cx="520065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Масиви об'єктів</a:t>
            </a:r>
            <a:endParaRPr lang="en-US" sz="2100" b="1" i="0" u="none" strike="noStrike" cap="none">
              <a:solidFill>
                <a:srgbClr val="94A3B8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36" name="Google Shape;136;p16"/>
          <p:cNvSpPr txBox="1"/>
          <p:nvPr/>
        </p:nvSpPr>
        <p:spPr>
          <a:xfrm>
            <a:off x="6477000" y="3843337"/>
            <a:ext cx="4953000" cy="8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Клас Album тепер містить масив треків. Реалізовано метод addTrack() з перевіркою на переповнення (Max Capacity).</a:t>
            </a:r>
            <a:endParaRPr lang="en-US" sz="1500" b="0" i="0" u="none" strike="noStrike" cap="none">
              <a:solidFill>
                <a:srgbClr val="CBD5E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37" name="Google Shape;137;p16"/>
          <p:cNvSpPr txBox="1"/>
          <p:nvPr/>
        </p:nvSpPr>
        <p:spPr>
          <a:xfrm>
            <a:off x="762000" y="571500"/>
            <a:ext cx="6996811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10B981"/>
                </a:solidFill>
                <a:latin typeface="Urbanist"/>
                <a:ea typeface="Urbanist"/>
                <a:cs typeface="Urbanist"/>
                <a:sym typeface="Urbanist"/>
              </a:rPr>
              <a:t>ЗАВДАННЯ 2-3: КОМПОЗИЦІЯ</a:t>
            </a:r>
            <a:endParaRPr lang="en-US" sz="3300" b="1" i="0" u="none" strike="noStrike" cap="none">
              <a:solidFill>
                <a:srgbClr val="10B98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38" name="Google Shape;138;p16"/>
          <p:cNvSpPr/>
          <p:nvPr/>
        </p:nvSpPr>
        <p:spPr>
          <a:xfrm>
            <a:off x="571500" y="571500"/>
            <a:ext cx="47625" cy="504825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143;p17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7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6286500" y="2833687"/>
            <a:ext cx="5334000" cy="1981200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17"/>
          <p:cNvSpPr txBox="1"/>
          <p:nvPr/>
        </p:nvSpPr>
        <p:spPr>
          <a:xfrm>
            <a:off x="571500" y="2833687"/>
            <a:ext cx="53340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Ієрархія: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Media → MusicTrack та Album → MusicAlbum.</a:t>
            </a:r>
            <a:endParaRPr lang="en-US" sz="1500" b="0" i="0" u="none" strike="noStrike" cap="none">
              <a:solidFill>
                <a:srgbClr val="CBD5E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46" name="Google Shape;146;p17"/>
          <p:cNvSpPr txBox="1"/>
          <p:nvPr/>
        </p:nvSpPr>
        <p:spPr>
          <a:xfrm>
            <a:off x="904875" y="3252787"/>
            <a:ext cx="5000625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Використання super() у конструкторах</a:t>
            </a:r>
            <a:endParaRPr lang="en-US" sz="1500" b="0" i="0" u="none" strike="noStrike" cap="none">
              <a:solidFill>
                <a:srgbClr val="CBD5E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47" name="Google Shape;147;p17"/>
          <p:cNvSpPr txBox="1"/>
          <p:nvPr/>
        </p:nvSpPr>
        <p:spPr>
          <a:xfrm>
            <a:off x="904875" y="3633787"/>
            <a:ext cx="5000625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Перевизначення toString()</a:t>
            </a:r>
            <a:endParaRPr lang="en-US" sz="1500" b="0" i="0" u="none" strike="noStrike" cap="none">
              <a:solidFill>
                <a:srgbClr val="CBD5E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48" name="Google Shape;148;p17"/>
          <p:cNvSpPr txBox="1"/>
          <p:nvPr/>
        </p:nvSpPr>
        <p:spPr>
          <a:xfrm>
            <a:off x="904875" y="4014787"/>
            <a:ext cx="5000625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Метод play() для імітації відтворення</a:t>
            </a:r>
            <a:endParaRPr lang="en-US" sz="1500" b="0" i="0" u="none" strike="noStrike" cap="none">
              <a:solidFill>
                <a:srgbClr val="CBD5E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49" name="Google Shape;149;p17"/>
          <p:cNvSpPr txBox="1"/>
          <p:nvPr/>
        </p:nvSpPr>
        <p:spPr>
          <a:xfrm>
            <a:off x="904875" y="4395787"/>
            <a:ext cx="5000625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Обчислення загальної тривалості всього альбому</a:t>
            </a:r>
            <a:endParaRPr lang="en-US" sz="1500" b="0" i="0" u="none" strike="noStrike" cap="none">
              <a:solidFill>
                <a:srgbClr val="CBD5E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50" name="Google Shape;150;p17"/>
          <p:cNvSpPr txBox="1"/>
          <p:nvPr/>
        </p:nvSpPr>
        <p:spPr>
          <a:xfrm>
            <a:off x="762000" y="571500"/>
            <a:ext cx="7743155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10B981"/>
                </a:solidFill>
                <a:latin typeface="Urbanist"/>
                <a:ea typeface="Urbanist"/>
                <a:cs typeface="Urbanist"/>
                <a:sym typeface="Urbanist"/>
              </a:rPr>
              <a:t>ЗАВДАННЯ 4-5: УСПАДКУВАННЯ</a:t>
            </a:r>
            <a:endParaRPr lang="en-US" sz="3300" b="1" i="0" u="none" strike="noStrike" cap="none">
              <a:solidFill>
                <a:srgbClr val="10B98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51" name="Google Shape;151;p17"/>
          <p:cNvSpPr/>
          <p:nvPr/>
        </p:nvSpPr>
        <p:spPr>
          <a:xfrm>
            <a:off x="571500" y="571500"/>
            <a:ext cx="47625" cy="504825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2" name="Google Shape;152;p17" descr="image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571500" y="3252787"/>
            <a:ext cx="2381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17" descr="image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571500" y="3633787"/>
            <a:ext cx="2381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17" descr="image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571500" y="4014787"/>
            <a:ext cx="2381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7" descr="image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571500" y="4395787"/>
            <a:ext cx="238125" cy="200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60;p18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1" name="Google Shape;161;p18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6286500" y="2671762"/>
            <a:ext cx="5334000" cy="2305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" name="Google Shape;162;p18" descr="image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571500" y="3767137"/>
            <a:ext cx="5334000" cy="70485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18"/>
          <p:cNvSpPr txBox="1"/>
          <p:nvPr/>
        </p:nvSpPr>
        <p:spPr>
          <a:xfrm>
            <a:off x="571500" y="2671762"/>
            <a:ext cx="560070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InvalidTrackException</a:t>
            </a:r>
            <a:endParaRPr lang="en-US" sz="2100" b="1" i="0" u="none" strike="noStrike" cap="none">
              <a:solidFill>
                <a:srgbClr val="94A3B8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64" name="Google Shape;164;p18"/>
          <p:cNvSpPr txBox="1"/>
          <p:nvPr/>
        </p:nvSpPr>
        <p:spPr>
          <a:xfrm>
            <a:off x="571500" y="3090862"/>
            <a:ext cx="53340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Створено власний перевіряємий виняток для жорсткої валідації бізнес-логіки.</a:t>
            </a:r>
            <a:endParaRPr lang="en-US" sz="1500" b="0" i="0" u="none" strike="noStrike" cap="none">
              <a:solidFill>
                <a:srgbClr val="CBD5E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165" name="Google Shape;165;p18" descr="image.png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6477000" y="2900362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18"/>
          <p:cNvSpPr txBox="1"/>
          <p:nvPr/>
        </p:nvSpPr>
        <p:spPr>
          <a:xfrm>
            <a:off x="6477000" y="3424237"/>
            <a:ext cx="520065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Відмовостійкість</a:t>
            </a:r>
            <a:endParaRPr lang="en-US" sz="2100" b="1" i="0" u="none" strike="noStrike" cap="none">
              <a:solidFill>
                <a:srgbClr val="94A3B8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67" name="Google Shape;167;p18"/>
          <p:cNvSpPr txBox="1"/>
          <p:nvPr/>
        </p:nvSpPr>
        <p:spPr>
          <a:xfrm>
            <a:off x="6477000" y="3843337"/>
            <a:ext cx="4953000" cy="8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Використання блоків try-catch-finally гарантує, що програма не завершиться аварійно при некоректних діях користувача.</a:t>
            </a:r>
            <a:endParaRPr lang="en-US" sz="1500" b="0" i="0" u="none" strike="noStrike" cap="none">
              <a:solidFill>
                <a:srgbClr val="CBD5E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68" name="Google Shape;168;p18"/>
          <p:cNvSpPr txBox="1"/>
          <p:nvPr/>
        </p:nvSpPr>
        <p:spPr>
          <a:xfrm>
            <a:off x="762000" y="571500"/>
            <a:ext cx="8205713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10B981"/>
                </a:solidFill>
                <a:latin typeface="Urbanist"/>
                <a:ea typeface="Urbanist"/>
                <a:cs typeface="Urbanist"/>
                <a:sym typeface="Urbanist"/>
              </a:rPr>
              <a:t>ЗАВДАННЯ 6: ОБРОБКА ВИНЯТКІВ</a:t>
            </a:r>
            <a:endParaRPr lang="en-US" sz="3300" b="1" i="0" u="none" strike="noStrike" cap="none">
              <a:solidFill>
                <a:srgbClr val="10B98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69" name="Google Shape;169;p18"/>
          <p:cNvSpPr/>
          <p:nvPr/>
        </p:nvSpPr>
        <p:spPr>
          <a:xfrm>
            <a:off x="571500" y="571500"/>
            <a:ext cx="47625" cy="504825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Google Shape;174;p19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19"/>
          <p:cNvSpPr txBox="1"/>
          <p:nvPr/>
        </p:nvSpPr>
        <p:spPr>
          <a:xfrm>
            <a:off x="6286500" y="2014537"/>
            <a:ext cx="560070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MusicCollection</a:t>
            </a:r>
            <a:endParaRPr lang="en-US" sz="2100" b="1" i="0" u="none" strike="noStrike" cap="none">
              <a:solidFill>
                <a:srgbClr val="94A3B8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78" name="Google Shape;178;p19"/>
          <p:cNvSpPr txBox="1"/>
          <p:nvPr/>
        </p:nvSpPr>
        <p:spPr>
          <a:xfrm>
            <a:off x="6286500" y="2433637"/>
            <a:ext cx="53340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Освоєно технологію Generics для створення універсальних структур даних.</a:t>
            </a:r>
            <a:endParaRPr lang="en-US" sz="1500" b="0" i="0" u="none" strike="noStrike" cap="none">
              <a:solidFill>
                <a:srgbClr val="CBD5E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79" name="Google Shape;179;p19"/>
          <p:cNvSpPr txBox="1"/>
          <p:nvPr/>
        </p:nvSpPr>
        <p:spPr>
          <a:xfrm>
            <a:off x="6619875" y="3119437"/>
            <a:ext cx="5000625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Типізація на етапі компіляції</a:t>
            </a:r>
            <a:endParaRPr lang="en-US" sz="1500" b="0" i="0" u="none" strike="noStrike" cap="none">
              <a:solidFill>
                <a:srgbClr val="CBD5E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80" name="Google Shape;180;p19"/>
          <p:cNvSpPr txBox="1"/>
          <p:nvPr/>
        </p:nvSpPr>
        <p:spPr>
          <a:xfrm>
            <a:off x="6619875" y="3500437"/>
            <a:ext cx="5000625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Робота як з MusicTrack, так і зі String</a:t>
            </a:r>
            <a:endParaRPr lang="en-US" sz="1500" b="0" i="0" u="none" strike="noStrike" cap="none">
              <a:solidFill>
                <a:srgbClr val="CBD5E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81" name="Google Shape;181;p19"/>
          <p:cNvSpPr txBox="1"/>
          <p:nvPr/>
        </p:nvSpPr>
        <p:spPr>
          <a:xfrm>
            <a:off x="6619875" y="3881437"/>
            <a:ext cx="5000625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Повторне використання коду</a:t>
            </a:r>
            <a:endParaRPr lang="en-US" sz="1500" b="0" i="0" u="none" strike="noStrike" cap="none">
              <a:solidFill>
                <a:srgbClr val="CBD5E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82" name="Google Shape;182;p19"/>
          <p:cNvSpPr txBox="1"/>
          <p:nvPr/>
        </p:nvSpPr>
        <p:spPr>
          <a:xfrm>
            <a:off x="762000" y="571500"/>
            <a:ext cx="7179178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10B981"/>
                </a:solidFill>
                <a:latin typeface="Urbanist"/>
                <a:ea typeface="Urbanist"/>
                <a:cs typeface="Urbanist"/>
                <a:sym typeface="Urbanist"/>
              </a:rPr>
              <a:t>ЗАВДАННЯ 7: УЗАГАЛЬНЕННЯ</a:t>
            </a:r>
            <a:endParaRPr lang="en-US" sz="3300" b="1" i="0" u="none" strike="noStrike" cap="none">
              <a:solidFill>
                <a:srgbClr val="10B98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83" name="Google Shape;183;p19"/>
          <p:cNvSpPr/>
          <p:nvPr/>
        </p:nvSpPr>
        <p:spPr>
          <a:xfrm>
            <a:off x="571500" y="571500"/>
            <a:ext cx="47625" cy="504825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4" name="Google Shape;184;p19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6286500" y="3119437"/>
            <a:ext cx="2381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5" name="Google Shape;185;p19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6286500" y="3500437"/>
            <a:ext cx="2381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6" name="Google Shape;186;p19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6286500" y="3881437"/>
            <a:ext cx="238125" cy="20002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" name="Group 1"/>
          <p:cNvGrpSpPr/>
          <p:nvPr/>
        </p:nvGrpSpPr>
        <p:grpSpPr>
          <a:xfrm>
            <a:off x="619125" y="2014220"/>
            <a:ext cx="5214620" cy="2969260"/>
            <a:chOff x="975" y="3682"/>
            <a:chExt cx="8212" cy="4676"/>
          </a:xfrm>
        </p:grpSpPr>
        <p:pic>
          <p:nvPicPr>
            <p:cNvPr id="175" name="Google Shape;175;p19" descr="image.png"/>
            <p:cNvPicPr preferRelativeResize="0"/>
            <p:nvPr/>
          </p:nvPicPr>
          <p:blipFill rotWithShape="1">
            <a:blip r:embed="rId3"/>
            <a:srcRect/>
            <a:stretch>
              <a:fillRect/>
            </a:stretch>
          </p:blipFill>
          <p:spPr>
            <a:xfrm>
              <a:off x="975" y="3683"/>
              <a:ext cx="8213" cy="46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" name="Picture 0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75" y="3682"/>
              <a:ext cx="8213" cy="467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1" name="Google Shape;191;p20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" name="Google Shape;192;p20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571500" y="2767012"/>
            <a:ext cx="11049000" cy="1514475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20"/>
          <p:cNvSpPr txBox="1"/>
          <p:nvPr/>
        </p:nvSpPr>
        <p:spPr>
          <a:xfrm>
            <a:off x="571500" y="4471987"/>
            <a:ext cx="110490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1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"Результат: Повнофункціональна консольна медіа-бібліотека."</a:t>
            </a:r>
            <a:endParaRPr lang="en-US" sz="1500" b="0" i="1" u="none" strike="noStrike" cap="none">
              <a:solidFill>
                <a:srgbClr val="CBD5E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94" name="Google Shape;194;p20"/>
          <p:cNvSpPr txBox="1"/>
          <p:nvPr/>
        </p:nvSpPr>
        <p:spPr>
          <a:xfrm>
            <a:off x="762000" y="2995612"/>
            <a:ext cx="1120140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Інтеграція всіх концепцій ООП</a:t>
            </a:r>
            <a:endParaRPr lang="en-US" sz="2100" b="1" i="0" u="none" strike="noStrike" cap="none">
              <a:solidFill>
                <a:srgbClr val="94A3B8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95" name="Google Shape;195;p20"/>
          <p:cNvSpPr txBox="1"/>
          <p:nvPr/>
        </p:nvSpPr>
        <p:spPr>
          <a:xfrm>
            <a:off x="762000" y="3414712"/>
            <a:ext cx="106680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Програма об'єднує повний ЖЦ об'єктів: динамічне створення, модифікацію через сетери, виклик методів ієрархії та обробку валідаційних винятків у єдиному керуючому циклі.</a:t>
            </a:r>
            <a:endParaRPr lang="en-US" sz="1500" b="0" i="0" u="none" strike="noStrike" cap="none">
              <a:solidFill>
                <a:srgbClr val="CBD5E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96" name="Google Shape;196;p20"/>
          <p:cNvSpPr txBox="1"/>
          <p:nvPr/>
        </p:nvSpPr>
        <p:spPr>
          <a:xfrm>
            <a:off x="762000" y="571500"/>
            <a:ext cx="5921833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ПІДСУМКОВА ПРОГРАМА</a:t>
            </a:r>
            <a:endParaRPr lang="en-US" sz="3300" b="1" i="0" u="none" strike="noStrike" cap="none">
              <a:solidFill>
                <a:srgbClr val="FFFFFF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97" name="Google Shape;197;p20"/>
          <p:cNvSpPr/>
          <p:nvPr/>
        </p:nvSpPr>
        <p:spPr>
          <a:xfrm>
            <a:off x="571500" y="571500"/>
            <a:ext cx="47625" cy="504825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2" name="Google Shape;202;p21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21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6286500" y="2014537"/>
            <a:ext cx="5334000" cy="3619500"/>
          </a:xfrm>
          <a:prstGeom prst="rect">
            <a:avLst/>
          </a:prstGeom>
          <a:noFill/>
          <a:ln>
            <a:noFill/>
          </a:ln>
        </p:spPr>
      </p:pic>
      <p:sp>
        <p:nvSpPr>
          <p:cNvPr id="204" name="Google Shape;204;p21"/>
          <p:cNvSpPr txBox="1"/>
          <p:nvPr/>
        </p:nvSpPr>
        <p:spPr>
          <a:xfrm>
            <a:off x="571500" y="2014537"/>
            <a:ext cx="560070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Git-Status-Watcher</a:t>
            </a:r>
            <a:endParaRPr lang="en-US" sz="2100" b="1" i="0" u="none" strike="noStrike" cap="none">
              <a:solidFill>
                <a:srgbClr val="94A3B8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05" name="Google Shape;205;p21"/>
          <p:cNvSpPr txBox="1"/>
          <p:nvPr/>
        </p:nvSpPr>
        <p:spPr>
          <a:xfrm>
            <a:off x="571500" y="2433637"/>
            <a:ext cx="53340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Системна утиліта для асинхронного моніторингу репозиторіїв Git.</a:t>
            </a:r>
            <a:endParaRPr lang="en-US" sz="1500" b="0" i="0" u="none" strike="noStrike" cap="none">
              <a:solidFill>
                <a:srgbClr val="CBD5E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206" name="Google Shape;206;p21" descr="image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6296025" y="2024062"/>
            <a:ext cx="5314950" cy="3600450"/>
          </a:xfrm>
          <a:prstGeom prst="rect">
            <a:avLst/>
          </a:prstGeom>
          <a:noFill/>
          <a:ln>
            <a:noFill/>
          </a:ln>
        </p:spPr>
      </p:pic>
      <p:sp>
        <p:nvSpPr>
          <p:cNvPr id="207" name="Google Shape;207;p21"/>
          <p:cNvSpPr txBox="1"/>
          <p:nvPr/>
        </p:nvSpPr>
        <p:spPr>
          <a:xfrm>
            <a:off x="904875" y="3119437"/>
            <a:ext cx="5000625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Java 21: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Віртуальні потоки (Virtual Threads)</a:t>
            </a:r>
            <a:endParaRPr lang="en-US" sz="1500" b="0" i="0" u="none" strike="noStrike" cap="none">
              <a:solidFill>
                <a:srgbClr val="CBD5E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08" name="Google Shape;208;p21"/>
          <p:cNvSpPr txBox="1"/>
          <p:nvPr/>
        </p:nvSpPr>
        <p:spPr>
          <a:xfrm>
            <a:off x="904875" y="3500437"/>
            <a:ext cx="5000625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Linux IPC: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Інтеграція з Rofi dmenu</a:t>
            </a:r>
            <a:endParaRPr lang="en-US" sz="1500" b="0" i="0" u="none" strike="noStrike" cap="none">
              <a:solidFill>
                <a:srgbClr val="CBD5E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09" name="Google Shape;209;p21"/>
          <p:cNvSpPr txBox="1"/>
          <p:nvPr/>
        </p:nvSpPr>
        <p:spPr>
          <a:xfrm>
            <a:off x="904875" y="3881437"/>
            <a:ext cx="5000625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ProcessBuilder: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Робота з Git CLI</a:t>
            </a:r>
            <a:endParaRPr lang="en-US" sz="1500" b="0" i="0" u="none" strike="noStrike" cap="none">
              <a:solidFill>
                <a:srgbClr val="CBD5E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10" name="Google Shape;210;p21"/>
          <p:cNvSpPr txBox="1"/>
          <p:nvPr/>
        </p:nvSpPr>
        <p:spPr>
          <a:xfrm>
            <a:off x="762000" y="571500"/>
            <a:ext cx="6717714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10B981"/>
                </a:solidFill>
                <a:latin typeface="Urbanist"/>
                <a:ea typeface="Urbanist"/>
                <a:cs typeface="Urbanist"/>
                <a:sym typeface="Urbanist"/>
              </a:rPr>
              <a:t>ІНДИВІДУАЛЬНЕ ЗАВДАННЯ</a:t>
            </a:r>
            <a:endParaRPr lang="en-US" sz="3300" b="1" i="0" u="none" strike="noStrike" cap="none">
              <a:solidFill>
                <a:srgbClr val="10B98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11" name="Google Shape;211;p21"/>
          <p:cNvSpPr/>
          <p:nvPr/>
        </p:nvSpPr>
        <p:spPr>
          <a:xfrm>
            <a:off x="571500" y="571500"/>
            <a:ext cx="47625" cy="504825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2" name="Google Shape;212;p21" descr="image.png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571500" y="3119437"/>
            <a:ext cx="2381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3" name="Google Shape;213;p21" descr="image.png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571500" y="3500437"/>
            <a:ext cx="2381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4" name="Google Shape;214;p21" descr="image.png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571500" y="3881437"/>
            <a:ext cx="238125" cy="200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Google Shape;219;p22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22"/>
          <p:cNvSpPr txBox="1"/>
          <p:nvPr/>
        </p:nvSpPr>
        <p:spPr>
          <a:xfrm>
            <a:off x="571500" y="4572000"/>
            <a:ext cx="110490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Практика дозволила сформувати цілісне розуміння розробки складного програмного забезпечення.</a:t>
            </a:r>
            <a:endParaRPr lang="en-US" sz="1500" b="0" i="0" u="none" strike="noStrike" cap="none">
              <a:solidFill>
                <a:srgbClr val="CBD5E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221" name="Google Shape;221;p22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762000" y="2895600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2"/>
          <p:cNvSpPr txBox="1"/>
          <p:nvPr/>
        </p:nvSpPr>
        <p:spPr>
          <a:xfrm>
            <a:off x="762000" y="3419475"/>
            <a:ext cx="49530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Закріплено навички проектування інкапсульованих, успадкованих та поліморфних систем.</a:t>
            </a:r>
            <a:endParaRPr lang="en-US" sz="1500" b="0" i="0" u="none" strike="noStrike" cap="none">
              <a:solidFill>
                <a:srgbClr val="CBD5E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223" name="Google Shape;223;p22" descr="image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6477000" y="2895600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22"/>
          <p:cNvSpPr txBox="1"/>
          <p:nvPr/>
        </p:nvSpPr>
        <p:spPr>
          <a:xfrm>
            <a:off x="6477000" y="3419475"/>
            <a:ext cx="49530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Опановано асинхронну модель Java 21 та низькорівневу взаємодію з ОС Linux.</a:t>
            </a:r>
            <a:endParaRPr lang="en-US" sz="1500" b="0" i="0" u="none" strike="noStrike" cap="none">
              <a:solidFill>
                <a:srgbClr val="CBD5E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25" name="Google Shape;225;p22"/>
          <p:cNvSpPr txBox="1"/>
          <p:nvPr/>
        </p:nvSpPr>
        <p:spPr>
          <a:xfrm>
            <a:off x="762000" y="571500"/>
            <a:ext cx="5218308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10B981"/>
                </a:solidFill>
                <a:latin typeface="Urbanist"/>
                <a:ea typeface="Urbanist"/>
                <a:cs typeface="Urbanist"/>
                <a:sym typeface="Urbanist"/>
              </a:rPr>
              <a:t>ЗАГАЛЬНІ ВИСНОВКИ</a:t>
            </a:r>
            <a:endParaRPr lang="en-US" sz="3300" b="1" i="0" u="none" strike="noStrike" cap="none">
              <a:solidFill>
                <a:srgbClr val="10B98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26" name="Google Shape;226;p22"/>
          <p:cNvSpPr/>
          <p:nvPr/>
        </p:nvSpPr>
        <p:spPr>
          <a:xfrm>
            <a:off x="571500" y="571500"/>
            <a:ext cx="47625" cy="504825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1" name="Google Shape;231;p23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2" name="Google Shape;232;p23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571500" y="2014537"/>
            <a:ext cx="5334000" cy="3619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3" name="Google Shape;233;p23" descr="image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581025" y="2024062"/>
            <a:ext cx="5314950" cy="3600450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23"/>
          <p:cNvSpPr txBox="1"/>
          <p:nvPr/>
        </p:nvSpPr>
        <p:spPr>
          <a:xfrm>
            <a:off x="6619875" y="2166937"/>
            <a:ext cx="5000625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OC: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Arch Linux / Ubuntu</a:t>
            </a:r>
            <a:endParaRPr lang="en-US" sz="1500" b="0" i="0" u="none" strike="noStrike" cap="none">
              <a:solidFill>
                <a:srgbClr val="CBD5E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35" name="Google Shape;235;p23"/>
          <p:cNvSpPr txBox="1"/>
          <p:nvPr/>
        </p:nvSpPr>
        <p:spPr>
          <a:xfrm>
            <a:off x="6619875" y="2547937"/>
            <a:ext cx="5000625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Editors: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Nano, Vim, Cursor</a:t>
            </a:r>
            <a:endParaRPr lang="en-US" sz="1500" b="0" i="0" u="none" strike="noStrike" cap="none">
              <a:solidFill>
                <a:srgbClr val="CBD5E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36" name="Google Shape;236;p23"/>
          <p:cNvSpPr txBox="1"/>
          <p:nvPr/>
        </p:nvSpPr>
        <p:spPr>
          <a:xfrm>
            <a:off x="6619875" y="2928937"/>
            <a:ext cx="5000625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Tools: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JDK 21, Git, Rofi</a:t>
            </a:r>
            <a:endParaRPr lang="en-US" sz="1500" b="0" i="0" u="none" strike="noStrike" cap="none">
              <a:solidFill>
                <a:srgbClr val="CBD5E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37" name="Google Shape;237;p23"/>
          <p:cNvSpPr txBox="1"/>
          <p:nvPr/>
        </p:nvSpPr>
        <p:spPr>
          <a:xfrm>
            <a:off x="6619875" y="3309937"/>
            <a:ext cx="5000625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Hardware: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Lenovo ThinkPad T490s</a:t>
            </a:r>
            <a:endParaRPr lang="en-US" sz="1500" b="0" i="0" u="none" strike="noStrike" cap="none">
              <a:solidFill>
                <a:srgbClr val="CBD5E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38" name="Google Shape;238;p23"/>
          <p:cNvSpPr txBox="1"/>
          <p:nvPr/>
        </p:nvSpPr>
        <p:spPr>
          <a:xfrm>
            <a:off x="762000" y="571500"/>
            <a:ext cx="5621640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10B981"/>
                </a:solidFill>
                <a:latin typeface="Urbanist"/>
                <a:ea typeface="Urbanist"/>
                <a:cs typeface="Urbanist"/>
                <a:sym typeface="Urbanist"/>
              </a:rPr>
              <a:t>РОБОЧЕ СЕРЕДОВИЩЕ</a:t>
            </a:r>
            <a:endParaRPr lang="en-US" sz="3300" b="1" i="0" u="none" strike="noStrike" cap="none">
              <a:solidFill>
                <a:srgbClr val="10B98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39" name="Google Shape;239;p23"/>
          <p:cNvSpPr/>
          <p:nvPr/>
        </p:nvSpPr>
        <p:spPr>
          <a:xfrm>
            <a:off x="571500" y="571500"/>
            <a:ext cx="47625" cy="504825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0" name="Google Shape;240;p23" descr="image.png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6286500" y="2166937"/>
            <a:ext cx="2381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1" name="Google Shape;241;p23" descr="image.png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6286500" y="2547937"/>
            <a:ext cx="2381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2" name="Google Shape;242;p23" descr="image.png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6286500" y="2928937"/>
            <a:ext cx="2381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Google Shape;243;p23" descr="image.png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6286500" y="3309937"/>
            <a:ext cx="238125" cy="200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8" name="Google Shape;248;p24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9" name="Google Shape;249;p24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5619115" y="904269"/>
            <a:ext cx="952500" cy="7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24"/>
          <p:cNvSpPr txBox="1"/>
          <p:nvPr/>
        </p:nvSpPr>
        <p:spPr>
          <a:xfrm>
            <a:off x="3810079" y="2216814"/>
            <a:ext cx="4570571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1" i="0" u="none" strike="noStrike" cap="none">
                <a:solidFill>
                  <a:srgbClr val="10B981"/>
                </a:solidFill>
                <a:latin typeface="Urbanist"/>
                <a:ea typeface="Urbanist"/>
                <a:cs typeface="Urbanist"/>
                <a:sym typeface="Urbanist"/>
              </a:rPr>
              <a:t>Дякую за увагу!</a:t>
            </a:r>
            <a:endParaRPr lang="en-US" sz="4500" b="1" i="0" u="none" strike="noStrike" cap="none">
              <a:solidFill>
                <a:srgbClr val="10B98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51" name="Google Shape;251;p24"/>
          <p:cNvSpPr txBox="1"/>
          <p:nvPr/>
        </p:nvSpPr>
        <p:spPr>
          <a:xfrm>
            <a:off x="3919537" y="3859559"/>
            <a:ext cx="4352925" cy="319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Готовий до ваших запитань</a:t>
            </a:r>
            <a:endParaRPr lang="en-US" sz="1800" b="0" i="0" u="none" strike="noStrike" cap="none">
              <a:solidFill>
                <a:srgbClr val="94A3B8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52" name="Google Shape;252;p24"/>
          <p:cNvSpPr txBox="1"/>
          <p:nvPr/>
        </p:nvSpPr>
        <p:spPr>
          <a:xfrm>
            <a:off x="3919537" y="4560540"/>
            <a:ext cx="4352925" cy="322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0975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github.com/merrclop</a:t>
            </a:r>
            <a:endParaRPr lang="en-US" sz="1500" b="0" i="0" u="none" strike="noStrike" cap="none">
              <a:solidFill>
                <a:srgbClr val="CBD5E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253" name="Google Shape;253;p24" descr="image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5100637" y="4598640"/>
            <a:ext cx="180975" cy="190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2684</Words>
  <Application>WPS Presentation</Application>
  <PresentationFormat/>
  <Paragraphs>122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24" baseType="lpstr">
      <vt:lpstr>Arial</vt:lpstr>
      <vt:lpstr>SimSun</vt:lpstr>
      <vt:lpstr>Wingdings</vt:lpstr>
      <vt:lpstr>Arial</vt:lpstr>
      <vt:lpstr>Calibri</vt:lpstr>
      <vt:lpstr>Trebuchet MS</vt:lpstr>
      <vt:lpstr>Urbanist</vt:lpstr>
      <vt:lpstr>C059</vt:lpstr>
      <vt:lpstr>Microsoft YaHei</vt:lpstr>
      <vt:lpstr>Arial Unicode MS</vt:lpstr>
      <vt:lpstr>Webdings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merrclop</cp:lastModifiedBy>
  <cp:revision>1</cp:revision>
  <dcterms:created xsi:type="dcterms:W3CDTF">2026-06-26T17:33:16Z</dcterms:created>
  <dcterms:modified xsi:type="dcterms:W3CDTF">2026-06-26T17:33:16Z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/>
  </property>
  <property fmtid="{D5CDD505-2E9C-101B-9397-08002B2CF9AE}" pid="3" name="KSOProductBuildVer">
    <vt:lpwstr>1033-11.1.0.11723</vt:lpwstr>
  </property>
</Properties>
</file>