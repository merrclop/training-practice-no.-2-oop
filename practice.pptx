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Urbanist" charset="0"/>
      <p:regular r:id="rId19"/>
      <p:bold r:id="rId20"/>
      <p:italic r:id="rId21"/>
      <p:boldItalic r:id="rId22"/>
    </p:embeddedFont>
    <p:embeddedFont>
      <p:font typeface="JetBrains Mono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71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3" name="Google Shape;93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0" name="Google Shape;120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5" name="Google Shape;135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0" name="Google Shape;160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4" name="Google Shape;174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6" name="Google Shape;186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1" name="Google Shape;201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7" name="Google Shape;217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8" name="Google Shape;228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0.GIF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-473710"/>
            <a:ext cx="1268857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574750" y="4896395"/>
            <a:ext cx="9042499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1348687" y="1193889"/>
            <a:ext cx="949462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ЗВІТ З НАВЧАЛЬНОЇ ПРАКТИКИ №2</a:t>
            </a:r>
            <a:endParaRPr lang="en-US" sz="21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348740" y="1753235"/>
            <a:ext cx="9881235" cy="162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Розробка на мові </a:t>
            </a:r>
            <a:r>
              <a:rPr lang="en-US" sz="48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Java</a:t>
            </a:r>
            <a:r>
              <a:rPr lang="en-US" sz="4800" b="1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00" b="1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 Об'єктно-</a:t>
            </a:r>
            <a:r>
              <a:rPr lang="en-US" sz="4500" b="1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орієнтовані </a:t>
            </a:r>
            <a:r>
              <a:rPr lang="en-US" sz="4800" b="1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рішення</a:t>
            </a:r>
            <a:endParaRPr lang="en-US" sz="4800" b="1" i="0" u="none" strike="noStrike" cap="none">
              <a:solidFill>
                <a:srgbClr val="F3F4F6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765250" y="4004220"/>
            <a:ext cx="866149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Студент: </a:t>
            </a:r>
            <a:r>
              <a:rPr lang="en-US" sz="1500" b="1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Кабар М.В.</a:t>
            </a: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(група ІПЗ-3)</a:t>
            </a:r>
            <a:endParaRPr lang="en-US" sz="1500" b="0" i="0" u="none" strike="noStrike" cap="none">
              <a:solidFill>
                <a:srgbClr val="9CA3A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765250" y="4432845"/>
            <a:ext cx="866149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Керівник: Олійник І.Ю.</a:t>
            </a:r>
            <a:endParaRPr lang="en-US" sz="1500" b="0" i="0" u="none" strike="noStrike" cap="none">
              <a:solidFill>
                <a:srgbClr val="9CA3A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1765250" y="5904140"/>
            <a:ext cx="8661499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Золочів – 2026</a:t>
            </a:r>
            <a:endParaRPr lang="en-US" sz="1500" b="0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055495"/>
            <a:ext cx="527685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81025" y="2943225"/>
            <a:ext cx="5276850" cy="19367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81025" y="1997710"/>
            <a:ext cx="5276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Мета:</a:t>
            </a: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Поглиблення знань з ООП та набуття навичок проектування систем на базі Java 21.</a:t>
            </a:r>
            <a:endParaRPr lang="en-US" sz="1500" b="0" i="0" u="none" strike="noStrike" cap="none">
              <a:solidFill>
                <a:srgbClr val="9CA3A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99" name="Google Shape;99;p14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43650" y="2074545"/>
            <a:ext cx="525780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876300" y="3238500"/>
            <a:ext cx="492061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333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 Платформа</a:t>
            </a:r>
            <a:endParaRPr lang="en-US" sz="15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876300" y="3952875"/>
            <a:ext cx="4686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Arch Linux (Hyprland), Термінал, Nano/Cursor, JDK 21.</a:t>
            </a:r>
            <a:endParaRPr lang="en-US" sz="1500" b="0" i="0" u="none" strike="noStrike" cap="none">
              <a:solidFill>
                <a:srgbClr val="9CA3A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76300" y="3238500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ВСТУП ТА СЕРЕДОВИЩЕ</a:t>
            </a:r>
            <a:endParaRPr lang="en-US" sz="30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552700"/>
            <a:ext cx="527685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/>
        </p:nvSpPr>
        <p:spPr>
          <a:xfrm>
            <a:off x="581025" y="2552700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Умова</a:t>
            </a:r>
            <a:endParaRPr lang="en-US" sz="21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581025" y="3019425"/>
            <a:ext cx="5276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Створити клас MusicTrack (назва, виконавець, тривалість) з приватними полями та кастомною валідацією стану.</a:t>
            </a:r>
            <a:endParaRPr lang="en-US" sz="1500" b="0" i="0" u="none" strike="noStrike" cap="none">
              <a:solidFill>
                <a:srgbClr val="9CA3A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3" name="Google Shape;113;p15"/>
          <p:cNvSpPr txBox="1"/>
          <p:nvPr/>
        </p:nvSpPr>
        <p:spPr>
          <a:xfrm>
            <a:off x="6629400" y="2847975"/>
            <a:ext cx="492061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762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Алгоритм</a:t>
            </a:r>
            <a:endParaRPr lang="en-US" sz="21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6629400" y="3562350"/>
            <a:ext cx="4686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1. Ініціалізація об'єкта.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2. Введення даних через Scanner.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3. Фільтрація: перевірка на від'ємну тривалість.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4. Форматування виводу (сік -&gt; хв:сек).</a:t>
            </a:r>
            <a:endParaRPr lang="en-US" sz="1500" b="0" i="0" u="none" strike="noStrike" cap="none">
              <a:solidFill>
                <a:srgbClr val="9CA3A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29400" y="284797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ЗАВДАННЯ 1: ІНКАПСУЛЯЦІЯ</a:t>
            </a:r>
            <a:endParaRPr lang="en-US" sz="30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81025" y="2363470"/>
            <a:ext cx="5276850" cy="284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781050" y="2381250"/>
            <a:ext cx="1143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0B981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public class</a:t>
            </a:r>
            <a:endParaRPr lang="en-US" sz="1200" b="0" i="0" u="none" strike="noStrike" cap="none">
              <a:solidFill>
                <a:srgbClr val="10B981"/>
              </a:solidFill>
              <a:latin typeface="JetBrains Mono" panose="02000009000000000000"/>
              <a:ea typeface="JetBrains Mono" panose="02000009000000000000"/>
              <a:cs typeface="JetBrains Mono" panose="02000009000000000000"/>
              <a:sym typeface="JetBrains Mono" panose="02000009000000000000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971550" y="2594520"/>
            <a:ext cx="666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0B981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private</a:t>
            </a:r>
            <a:endParaRPr lang="en-US" sz="1200" b="0" i="0" u="none" strike="noStrike" cap="none">
              <a:solidFill>
                <a:srgbClr val="10B981"/>
              </a:solidFill>
              <a:latin typeface="JetBrains Mono" panose="02000009000000000000"/>
              <a:ea typeface="JetBrains Mono" panose="02000009000000000000"/>
              <a:cs typeface="JetBrains Mono" panose="02000009000000000000"/>
              <a:sym typeface="JetBrains Mono" panose="02000009000000000000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971550" y="2807791"/>
            <a:ext cx="10477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0B981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public void</a:t>
            </a:r>
            <a:endParaRPr lang="en-US" sz="1200" b="0" i="0" u="none" strike="noStrike" cap="none">
              <a:solidFill>
                <a:srgbClr val="10B981"/>
              </a:solidFill>
              <a:latin typeface="JetBrains Mono" panose="02000009000000000000"/>
              <a:ea typeface="JetBrains Mono" panose="02000009000000000000"/>
              <a:cs typeface="JetBrains Mono" panose="02000009000000000000"/>
              <a:sym typeface="JetBrains Mono" panose="02000009000000000000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1162050" y="3021062"/>
            <a:ext cx="1905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0B981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if</a:t>
            </a:r>
            <a:endParaRPr lang="en-US" sz="1200" b="0" i="0" u="none" strike="noStrike" cap="none">
              <a:solidFill>
                <a:srgbClr val="10B981"/>
              </a:solidFill>
              <a:latin typeface="JetBrains Mono" panose="02000009000000000000"/>
              <a:ea typeface="JetBrains Mono" panose="02000009000000000000"/>
              <a:cs typeface="JetBrains Mono" panose="02000009000000000000"/>
              <a:sym typeface="JetBrains Mono" panose="02000009000000000000"/>
            </a:endParaRPr>
          </a:p>
        </p:txBody>
      </p:sp>
      <p:sp>
        <p:nvSpPr>
          <p:cNvPr id="129" name="Google Shape;129;p16"/>
          <p:cNvSpPr txBox="1"/>
          <p:nvPr/>
        </p:nvSpPr>
        <p:spPr>
          <a:xfrm>
            <a:off x="1162050" y="3234332"/>
            <a:ext cx="381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0B981"/>
                </a:solidFill>
                <a:latin typeface="JetBrains Mono" panose="02000009000000000000"/>
                <a:ea typeface="JetBrains Mono" panose="02000009000000000000"/>
                <a:cs typeface="JetBrains Mono" panose="02000009000000000000"/>
                <a:sym typeface="JetBrains Mono" panose="02000009000000000000"/>
              </a:rPr>
              <a:t>else</a:t>
            </a:r>
            <a:endParaRPr lang="en-US" sz="1200" b="0" i="0" u="none" strike="noStrike" cap="none">
              <a:solidFill>
                <a:srgbClr val="10B981"/>
              </a:solidFill>
              <a:latin typeface="JetBrains Mono" panose="02000009000000000000"/>
              <a:ea typeface="JetBrains Mono" panose="02000009000000000000"/>
              <a:cs typeface="JetBrains Mono" panose="02000009000000000000"/>
              <a:sym typeface="JetBrains Mono" panose="02000009000000000000"/>
            </a:endParaRPr>
          </a:p>
        </p:txBody>
      </p:sp>
      <p:pic>
        <p:nvPicPr>
          <p:cNvPr id="130" name="Google Shape;130;p16" descr="/home/merrclop/Pictures/Screenshots/Screenshot_28-Jun_19-58-05_24447.pngScreenshot_28-Jun_19-58-05_2444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06185" y="2381250"/>
            <a:ext cx="5295900" cy="284099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ЗАВДАННЯ 1: РЕАЛІЗАЦІЯ</a:t>
            </a:r>
            <a:endParaRPr lang="en-US" sz="30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81025" y="1419225"/>
            <a:ext cx="11029950" cy="485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615315" y="1646555"/>
            <a:ext cx="1096137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Вивід консолі</a:t>
            </a:r>
            <a:endParaRPr lang="en-US" sz="21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876300" y="5808345"/>
            <a:ext cx="104394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Статус: Успішно протестовано валідацію та форматування.</a:t>
            </a:r>
            <a:endParaRPr lang="en-US" sz="1500" b="0" i="1" u="none" strike="noStrike" cap="none">
              <a:solidFill>
                <a:srgbClr val="9CA3A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ЗАВДАННЯ 1: РЕЗУЛЬТАТ</a:t>
            </a:r>
            <a:endParaRPr lang="en-US" sz="30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" name="Picture 0" descr="task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865" y="2087245"/>
            <a:ext cx="4192270" cy="36042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2552700"/>
            <a:ext cx="5276850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581025" y="2552700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Умова</a:t>
            </a:r>
            <a:endParaRPr lang="en-US" sz="21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2" name="Google Shape;152;p18"/>
          <p:cNvSpPr txBox="1"/>
          <p:nvPr/>
        </p:nvSpPr>
        <p:spPr>
          <a:xfrm>
            <a:off x="581025" y="3019425"/>
            <a:ext cx="52768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Фінальна програма: об'єднати ієрархію класів (Media, MusicTrack, Album, MusicAlbum) в єдину систему з обробкою винятків.</a:t>
            </a:r>
            <a:endParaRPr lang="en-US" sz="1500" b="0" i="0" u="none" strike="noStrike" cap="none">
              <a:solidFill>
                <a:srgbClr val="9CA3A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3" name="Google Shape;153;p18"/>
          <p:cNvSpPr txBox="1"/>
          <p:nvPr/>
        </p:nvSpPr>
        <p:spPr>
          <a:xfrm>
            <a:off x="6629400" y="2847975"/>
            <a:ext cx="492061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8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Логіка</a:t>
            </a:r>
            <a:endParaRPr lang="en-US" sz="21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6629400" y="3562350"/>
            <a:ext cx="4686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1. Створення багаторівневої ієрархії.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2. Використання super() та поліморфізму.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3. Агрегація тривалості всього альбому.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4. Try-catch для захисту від збоїв.</a:t>
            </a:r>
            <a:endParaRPr lang="en-US" sz="1500" b="0" i="0" u="none" strike="noStrike" cap="none">
              <a:solidFill>
                <a:srgbClr val="9CA3A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55" name="Google Shape;155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29400" y="284797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ЗАВДАННЯ 8: ІНТЕГРАЦІЯ</a:t>
            </a:r>
            <a:endParaRPr lang="en-US" sz="30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81025" y="4463504"/>
            <a:ext cx="11029950" cy="826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9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81025" y="2406104"/>
            <a:ext cx="5276850" cy="17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334125" y="2406104"/>
            <a:ext cx="5276850" cy="1771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876300" y="2701379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Поліморфізм</a:t>
            </a:r>
            <a:endParaRPr lang="en-US" sz="21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9"/>
          <p:cNvSpPr txBox="1"/>
          <p:nvPr/>
        </p:nvSpPr>
        <p:spPr>
          <a:xfrm>
            <a:off x="876300" y="3168104"/>
            <a:ext cx="46863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Виклик методів підкласів через посилання базового класу Media.</a:t>
            </a:r>
            <a:endParaRPr lang="en-US" sz="1500" b="0" i="0" u="none" strike="noStrike" cap="none">
              <a:solidFill>
                <a:srgbClr val="9CA3A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8" name="Google Shape;168;p19"/>
          <p:cNvSpPr txBox="1"/>
          <p:nvPr/>
        </p:nvSpPr>
        <p:spPr>
          <a:xfrm>
            <a:off x="6629400" y="2701379"/>
            <a:ext cx="492061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Композиція</a:t>
            </a:r>
            <a:endParaRPr lang="en-US" sz="21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6629400" y="3168104"/>
            <a:ext cx="46863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Клас Album володіє масивом об'єктів MusicTrack.</a:t>
            </a:r>
            <a:endParaRPr lang="en-US" sz="1500" b="0" i="0" u="none" strike="noStrike" cap="none">
              <a:solidFill>
                <a:srgbClr val="9CA3A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ЗАВДАННЯ 8: АНАЛІЗ ООП</a:t>
            </a:r>
            <a:endParaRPr lang="en-US" sz="30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/>
          <p:cNvGrpSpPr/>
          <p:nvPr/>
        </p:nvGrpSpPr>
        <p:grpSpPr>
          <a:xfrm>
            <a:off x="6633758" y="2442210"/>
            <a:ext cx="5211392" cy="1980565"/>
            <a:chOff x="9658" y="4440"/>
            <a:chExt cx="8526" cy="3240"/>
          </a:xfrm>
        </p:grpSpPr>
        <p:pic>
          <p:nvPicPr>
            <p:cNvPr id="177" name="Google Shape;177;p20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658" y="4440"/>
              <a:ext cx="8310" cy="32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20"/>
            <p:cNvSpPr txBox="1"/>
            <p:nvPr/>
          </p:nvSpPr>
          <p:spPr>
            <a:xfrm>
              <a:off x="10545" y="4905"/>
              <a:ext cx="7639" cy="5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 b="1" i="0" u="none" strike="noStrike" cap="none">
                  <a:solidFill>
                    <a:srgbClr val="EF4444"/>
                  </a:solidFill>
                  <a:latin typeface="Urbanist"/>
                  <a:ea typeface="Urbanist"/>
                  <a:cs typeface="Urbanist"/>
                  <a:sym typeface="Urbanist"/>
                </a:rPr>
                <a:t>Обробка винятків</a:t>
              </a:r>
              <a:endParaRPr lang="en-US" sz="2100" b="1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10545" y="5640"/>
              <a:ext cx="7275" cy="141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2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1" i="0" u="none" strike="noStrike" cap="none">
                  <a:solidFill>
                    <a:srgbClr val="9CA3AF"/>
                  </a:solidFill>
                  <a:latin typeface="Urbanist"/>
                  <a:ea typeface="Urbanist"/>
                  <a:cs typeface="Urbanist"/>
                  <a:sym typeface="Urbanist"/>
                </a:rPr>
                <a:t>Intercepted Rule:</a:t>
              </a:r>
              <a:r>
                <a:rPr lang="en-US" sz="1500" b="0" i="0" u="none" strike="noStrike" cap="none">
                  <a:solidFill>
                    <a:srgbClr val="9CA3AF"/>
                  </a:solidFill>
                  <a:latin typeface="Urbanist"/>
                  <a:ea typeface="Urbanist"/>
                  <a:cs typeface="Urbanist"/>
                  <a:sym typeface="Urbanist"/>
                </a:rPr>
                <a:t> Duration cannot be negative!</a:t>
              </a:r>
              <a:br>
                <a:rPr lang="en-US"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lang="en-US" sz="1500" b="0" i="1" u="none" strike="noStrike" cap="none">
                  <a:solidFill>
                    <a:srgbClr val="9CA3AF"/>
                  </a:solidFill>
                  <a:latin typeface="Urbanist"/>
                  <a:ea typeface="Urbanist"/>
                  <a:cs typeface="Urbanist"/>
                  <a:sym typeface="Urbanist"/>
                </a:rPr>
                <a:t>Система залишається стабільною навіть при некоректних параметрах.</a:t>
              </a:r>
              <a:endParaRPr lang="en-US" sz="1500" b="0" i="1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82" name="Google Shape;182;p20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ЗАВДАННЯ 8: ПІДСУМОК</a:t>
            </a:r>
            <a:endParaRPr lang="en-US" sz="30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" name="Picture 0" descr="task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59000"/>
            <a:ext cx="5655945" cy="3101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334125" y="1566862"/>
            <a:ext cx="5276850" cy="456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81025" y="2795587"/>
            <a:ext cx="52768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1"/>
          <p:cNvSpPr txBox="1"/>
          <p:nvPr/>
        </p:nvSpPr>
        <p:spPr>
          <a:xfrm>
            <a:off x="581025" y="1566862"/>
            <a:ext cx="554069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Git-Status-Watcher</a:t>
            </a:r>
            <a:endParaRPr lang="en-US" sz="21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581025" y="2033587"/>
            <a:ext cx="52768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Умова:</a:t>
            </a: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Створити утиліту для асинхронного моніторингу Git-репозиторіїв з інтеграцією в Rofi.</a:t>
            </a:r>
            <a:endParaRPr lang="en-US" sz="1500" b="0" i="0" u="none" strike="noStrike" cap="none">
              <a:solidFill>
                <a:srgbClr val="9CA3A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3" name="Google Shape;193;p21"/>
          <p:cNvSpPr txBox="1"/>
          <p:nvPr/>
        </p:nvSpPr>
        <p:spPr>
          <a:xfrm>
            <a:off x="6629400" y="1862137"/>
            <a:ext cx="492061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Алгоритм</a:t>
            </a:r>
            <a:endParaRPr lang="en-US" sz="21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6629400" y="2576512"/>
            <a:ext cx="46863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1. Рекурсивний обхід Files.walkFileTree.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2. Фільтрація node_modules (SKIP_SUBTREE).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3. Асинхронне виконання git status через Virtual Threads.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4. Формування IPC конвеєра до Rofi dmenu.</a:t>
            </a:r>
            <a:endParaRPr lang="en-US" sz="1500" b="0" i="0" u="none" strike="noStrike" cap="none">
              <a:solidFill>
                <a:srgbClr val="9CA3A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95" name="Google Shape;195;p21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90550" y="2805112"/>
            <a:ext cx="5257800" cy="331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629400" y="18621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ІНДИВІДУАЛЬНА РОБОТА</a:t>
            </a:r>
            <a:endParaRPr lang="en-US" sz="30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2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81025" y="4892129"/>
            <a:ext cx="11029950" cy="8265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2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81025" y="1977479"/>
            <a:ext cx="5506342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2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277867" y="1977479"/>
            <a:ext cx="5333107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2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76300" y="2272754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2"/>
          <p:cNvSpPr txBox="1"/>
          <p:nvPr/>
        </p:nvSpPr>
        <p:spPr>
          <a:xfrm>
            <a:off x="876300" y="2844254"/>
            <a:ext cx="5161582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Java 21</a:t>
            </a:r>
            <a:endParaRPr lang="en-US" sz="21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9" name="Google Shape;209;p22"/>
          <p:cNvSpPr txBox="1"/>
          <p:nvPr/>
        </p:nvSpPr>
        <p:spPr>
          <a:xfrm>
            <a:off x="876300" y="3310979"/>
            <a:ext cx="4915792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Використання Executors.newVirtualThreadPerTaskExecutor() для паралельного аналізу десятків проектів.</a:t>
            </a:r>
            <a:endParaRPr lang="en-US" sz="1500" b="0" i="0" u="none" strike="noStrike" cap="none">
              <a:solidFill>
                <a:srgbClr val="9CA3A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10" name="Google Shape;210;p22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573142" y="2272754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6573142" y="2844254"/>
            <a:ext cx="4979684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IPC &amp; Rofi</a:t>
            </a:r>
            <a:endParaRPr lang="en-US" sz="21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2" name="Google Shape;212;p22"/>
          <p:cNvSpPr txBox="1"/>
          <p:nvPr/>
        </p:nvSpPr>
        <p:spPr>
          <a:xfrm>
            <a:off x="6573142" y="3310979"/>
            <a:ext cx="4742557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Передача даних через OutputStream процесу Rofi для створення UI.</a:t>
            </a:r>
            <a:endParaRPr lang="en-US" sz="1500" b="0" i="0" u="none" strike="noStrike" cap="none">
              <a:solidFill>
                <a:srgbClr val="9CA3A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771525" y="581025"/>
            <a:ext cx="1138142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INDIVIDUAL: TECH STACK</a:t>
            </a:r>
            <a:endParaRPr lang="en-US" sz="30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581025" y="581025"/>
            <a:ext cx="5715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3"/>
          <p:cNvSpPr txBox="1"/>
          <p:nvPr/>
        </p:nvSpPr>
        <p:spPr>
          <a:xfrm>
            <a:off x="581025" y="581025"/>
            <a:ext cx="519064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РЕЗУЛЬТАТ ІЗ</a:t>
            </a:r>
            <a:endParaRPr lang="en-US" sz="3000" b="1" i="0" u="none" strike="noStrike" cap="none">
              <a:solidFill>
                <a:srgbClr val="10B98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581025" y="1741170"/>
            <a:ext cx="4943475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UI Інтеграція:</a:t>
            </a:r>
            <a:r>
              <a: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rPr>
              <a:t> Список репозиторіїв з незбереженими змінами автоматично піднімається вгору.</a:t>
            </a:r>
            <a:endParaRPr lang="en-US" sz="1500" b="0" i="0" u="none" strike="noStrike" cap="none">
              <a:solidFill>
                <a:srgbClr val="9CA3AF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" name="Group 0"/>
          <p:cNvGrpSpPr/>
          <p:nvPr/>
        </p:nvGrpSpPr>
        <p:grpSpPr>
          <a:xfrm>
            <a:off x="581025" y="3447415"/>
            <a:ext cx="4943475" cy="1876425"/>
            <a:chOff x="915" y="3360"/>
            <a:chExt cx="7785" cy="2955"/>
          </a:xfrm>
        </p:grpSpPr>
        <p:pic>
          <p:nvPicPr>
            <p:cNvPr id="220" name="Google Shape;220;p23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15" y="3360"/>
              <a:ext cx="7785" cy="295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23"/>
            <p:cNvSpPr txBox="1"/>
            <p:nvPr/>
          </p:nvSpPr>
          <p:spPr>
            <a:xfrm>
              <a:off x="1380" y="3825"/>
              <a:ext cx="6855" cy="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8100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9CA3AF"/>
                  </a:solidFill>
                  <a:latin typeface="Urbanist"/>
                  <a:ea typeface="Urbanist"/>
                  <a:cs typeface="Urbanist"/>
                  <a:sym typeface="Urbanist"/>
                </a:rPr>
                <a:t>Програма миттєво знаходить незбережений код та дозволяє відкрити проект в Cursor IDE одним кліком.</a:t>
              </a:r>
              <a:endPara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id="225" name="Google Shape;225;p23" descr="image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249" y="3825"/>
              <a:ext cx="600" cy="6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" name="Picture 1" descr="git-watch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1865" y="1866265"/>
            <a:ext cx="5556250" cy="31254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 txBox="1"/>
          <p:nvPr/>
        </p:nvSpPr>
        <p:spPr>
          <a:xfrm>
            <a:off x="3042337" y="2064385"/>
            <a:ext cx="6107325" cy="1846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3F4F6"/>
                </a:solidFill>
                <a:latin typeface="Urbanist"/>
                <a:ea typeface="Urbanist"/>
                <a:cs typeface="Urbanist"/>
                <a:sym typeface="Urbanist"/>
              </a:rPr>
              <a:t>Дякую за увагу!</a:t>
            </a:r>
            <a:endParaRPr lang="en-US" sz="6000" b="1" i="0" u="none" strike="noStrike" cap="none">
              <a:solidFill>
                <a:srgbClr val="F3F4F6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grpSp>
        <p:nvGrpSpPr>
          <p:cNvPr id="1" name="Group 0"/>
          <p:cNvGrpSpPr/>
          <p:nvPr/>
        </p:nvGrpSpPr>
        <p:grpSpPr>
          <a:xfrm>
            <a:off x="3166745" y="4533265"/>
            <a:ext cx="5730875" cy="346075"/>
            <a:chOff x="6575" y="6305"/>
            <a:chExt cx="9025" cy="545"/>
          </a:xfrm>
        </p:grpSpPr>
        <p:sp>
          <p:nvSpPr>
            <p:cNvPr id="234" name="Google Shape;234;p24"/>
            <p:cNvSpPr txBox="1"/>
            <p:nvPr/>
          </p:nvSpPr>
          <p:spPr>
            <a:xfrm>
              <a:off x="6849" y="6305"/>
              <a:ext cx="8751" cy="54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80975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 b="0" i="0" u="none" strike="noStrike" cap="none">
                  <a:solidFill>
                    <a:srgbClr val="9CA3AF"/>
                  </a:solidFill>
                  <a:latin typeface="Urbanist"/>
                  <a:ea typeface="Urbanist"/>
                  <a:cs typeface="Urbanist"/>
                  <a:sym typeface="Urbanist"/>
                </a:rPr>
                <a:t>https://github.com/merrclop/Training-practice-No.-2-OOP.git</a:t>
              </a:r>
              <a:endParaRPr lang="en-US" sz="1500" b="0" i="0" u="none" strike="noStrike" cap="none">
                <a:solidFill>
                  <a:srgbClr val="9CA3AF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pic>
          <p:nvPicPr>
            <p:cNvPr id="236" name="Google Shape;236;p24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6575" y="6389"/>
              <a:ext cx="438" cy="46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2168</Words>
  <Application>WPS Presentation</Application>
  <PresentationFormat/>
  <Paragraphs>102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Arial</vt:lpstr>
      <vt:lpstr>Calibri</vt:lpstr>
      <vt:lpstr>Trebuchet MS</vt:lpstr>
      <vt:lpstr>Urbanist</vt:lpstr>
      <vt:lpstr>C059</vt:lpstr>
      <vt:lpstr>JetBrains Mono</vt:lpstr>
      <vt:lpstr>Microsoft YaHei</vt:lpstr>
      <vt:lpstr>Arial Unicode MS</vt:lpstr>
      <vt:lpstr>Webdings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merrclop</cp:lastModifiedBy>
  <cp:revision>2</cp:revision>
  <dcterms:created xsi:type="dcterms:W3CDTF">2026-06-28T17:11:24Z</dcterms:created>
  <dcterms:modified xsi:type="dcterms:W3CDTF">2026-06-28T17:11:24Z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